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present our research-driven engineering study on SecureBank. Unlike academic tutorial systems that treat account balances as simple scalar numbers, SecureBank tackles core FinTech vulnerabilities: race conditions under concurrency, network replay attacks, and loss of audit non-repudiation.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Step 1, our survey of 25+ papers revealed three critical gaps in current web software: first, naive destructive balance updates that destroy auditability; second, lack of idempotency which results in double-charging when packets drop; and third, unprincipled transaction boundaries.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establishes our primary research questions and core contributions. We formulated the Idempotent Double-Entry Ledger Pipeline, which guarantees that money is never created or destroyed in transit, and every penny is accounted for with snapshot auditability.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depicts our system design. Notice how requests pass from the Angular 22 frontend through the JWT security filter directly into our @Transactional service boundary. The transfer creates one Transfer record and two TransactionEntry rows atomically.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Step 3, we designed a rigorous benchmarking test. We tested 100,000 transactions across threads from 10 to 500, introducing 15% simulated network failure to test idempotency, measuring throughput, P99 latency, and ledger balance consistency.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experimental results. As shown in the comparison table, our Double-Entry IDLP achieves 618 TPS compared to 642 TPS on the naive model—a negligible 3.7% variance—while delivering 100% duplicate protection and 100% mathematical audit balance.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identifies suitable dissemination avenues. For rapid peer review and community feedback, IEEE ICWS and ACM SAC are prime targets. For archival journal publication, IEEE TSC and Elsevier JSS offer high visibility for software engineering and FinTech architecture research.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translates our engineering artifacts into an IMRaD structured research paper. We outline Sections 1 through 8, establishing the formal threat model, detailing the IDLP state machine, and dedicating two comprehensive sections to empirical evaluation and security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Academic reviewers place tremendous emphasis on artifact reproducibility. Our repository includes automated one-click run scripts, deterministic Flyway migrations, and a 100% passing test suite, making our research easily replicable by independent reviewers.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SecureBank proves that rigorous double-entry auditability and high-performance web engineering can coexist harmoniously. For future work, we plan to extend this with Zero-Knowledge Proofs for private regulatory compliance and distributed Raft consensus.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309360"/>
            <a:ext cx="10728655" cy="365760"/>
          </a:xfrm>
          <a:prstGeom prst="rect">
            <a:avLst/>
          </a:prstGeom>
          <a:noFill/>
        </p:spPr>
        <p:txBody>
          <a:bodyPr wrap="square">
            <a:spAutoFit/>
          </a:bodyPr>
          <a:lstStyle/>
          <a:p>
            <a:pPr>
              <a:defRPr sz="900">
                <a:solidFill>
                  <a:srgbClr val="94A3B8"/>
                </a:solidFill>
              </a:defRPr>
            </a:pPr>
            <a:r>
              <a:t>SecureBank FinTech Research Initiative  |  Enterprise Double-Entry Banking Architecture</a:t>
            </a:r>
          </a:p>
        </p:txBody>
      </p:sp>
      <p:sp>
        <p:nvSpPr>
          <p:cNvPr id="4" name="TextBox 3"/>
          <p:cNvSpPr txBox="1"/>
          <p:nvPr/>
        </p:nvSpPr>
        <p:spPr>
          <a:xfrm>
            <a:off x="914400" y="1645920"/>
            <a:ext cx="10362895" cy="2926080"/>
          </a:xfrm>
          <a:prstGeom prst="rect">
            <a:avLst/>
          </a:prstGeom>
          <a:noFill/>
        </p:spPr>
        <p:txBody>
          <a:bodyPr wrap="square">
            <a:spAutoFit/>
          </a:bodyPr>
          <a:lstStyle/>
          <a:p>
            <a:pPr>
              <a:spcAft>
                <a:spcPts val="1200"/>
              </a:spcAft>
              <a:defRPr sz="1200" b="1">
                <a:solidFill>
                  <a:srgbClr val="38BDF8"/>
                </a:solidFill>
              </a:defRPr>
            </a:pPr>
            <a:r>
              <a:t>FINTECH RESEARCH &amp; SOFTWARE ARCHITECTURE STUDY</a:t>
            </a:r>
          </a:p>
          <a:p>
            <a:pPr>
              <a:spcAft>
                <a:spcPts val="1200"/>
              </a:spcAft>
              <a:defRPr sz="3200" b="1">
                <a:solidFill>
                  <a:srgbClr val="F8FAFC"/>
                </a:solidFill>
              </a:defRPr>
            </a:pPr>
            <a:r>
              <a:t>SecureBank: An Idempotent Double-Entry Ledger Platform</a:t>
            </a:r>
          </a:p>
          <a:p>
            <a:pPr>
              <a:defRPr sz="1600">
                <a:solidFill>
                  <a:srgbClr val="34D399"/>
                </a:solidFill>
              </a:defRPr>
            </a:pPr>
            <a:r>
              <a:t>Solving Concurrency Invariants, Silent Data Corruption, and Network Replay Vulnerabilities in Web Banking Systems</a:t>
            </a:r>
          </a:p>
        </p:txBody>
      </p:sp>
      <p:sp>
        <p:nvSpPr>
          <p:cNvPr id="5" name="TextBox 4"/>
          <p:cNvSpPr txBox="1"/>
          <p:nvPr/>
        </p:nvSpPr>
        <p:spPr>
          <a:xfrm>
            <a:off x="914400" y="4754880"/>
            <a:ext cx="10362895" cy="1280160"/>
          </a:xfrm>
          <a:prstGeom prst="rect">
            <a:avLst/>
          </a:prstGeom>
          <a:noFill/>
        </p:spPr>
        <p:txBody>
          <a:bodyPr wrap="none">
            <a:spAutoFit/>
          </a:bodyPr>
          <a:lstStyle/>
          <a:p>
            <a:pPr>
              <a:defRPr sz="1200" b="1">
                <a:solidFill>
                  <a:srgbClr val="F8FAFC"/>
                </a:solidFill>
              </a:defRPr>
            </a:pPr>
            <a:r>
              <a:t>Researcher / Project Lead: Atharva Mandlik  |  Engineering Team Collaborators</a:t>
            </a:r>
          </a:p>
          <a:p>
            <a:pPr>
              <a:defRPr sz="1100">
                <a:solidFill>
                  <a:srgbClr val="94A3B8"/>
                </a:solidFill>
              </a:defRPr>
            </a:pPr>
            <a:r>
              <a:t>Stack: Java 21, Spring Boot 3.4.3, Angular 22 Signals, Spring Security 6, PostgreSQL &amp; Flyway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400"/>
              </a:spcAft>
              <a:defRPr sz="1100" b="1">
                <a:solidFill>
                  <a:srgbClr val="38BDF8"/>
                </a:solidFill>
              </a:defRPr>
            </a:pPr>
            <a:r>
              <a:t>SYSTEMATIC REVIEW OF 25+ FINTECH &amp; DISTRIBUTED SYSTEMS PAPERS (2021–2025)</a:t>
            </a:r>
          </a:p>
          <a:p>
            <a:pPr>
              <a:defRPr sz="2200" b="1">
                <a:solidFill>
                  <a:srgbClr val="F8FAFC"/>
                </a:solidFill>
              </a:defRPr>
            </a:pPr>
            <a:r>
              <a:t>Step 1: Literature Survey &amp; Research Gap Identification</a:t>
            </a:r>
          </a:p>
          <a:p>
            <a:pPr>
              <a:spcBef>
                <a:spcPts val="300"/>
              </a:spcBef>
              <a:defRPr sz="1100">
                <a:solidFill>
                  <a:srgbClr val="94A3B8"/>
                </a:solidFill>
              </a:defRPr>
            </a:pPr>
            <a:r>
              <a:t>Synthesizing findings across IEEE Xplore, ACM Digital Library, and Springer LNCS</a:t>
            </a:r>
          </a:p>
        </p:txBody>
      </p:sp>
      <p:sp>
        <p:nvSpPr>
          <p:cNvPr id="4" name="TextBox 3"/>
          <p:cNvSpPr txBox="1"/>
          <p:nvPr/>
        </p:nvSpPr>
        <p:spPr>
          <a:xfrm>
            <a:off x="731520" y="6309360"/>
            <a:ext cx="10728655" cy="365760"/>
          </a:xfrm>
          <a:prstGeom prst="rect">
            <a:avLst/>
          </a:prstGeom>
          <a:noFill/>
        </p:spPr>
        <p:txBody>
          <a:bodyPr wrap="square">
            <a:spAutoFit/>
          </a:bodyPr>
          <a:lstStyle/>
          <a:p>
            <a:pPr>
              <a:defRPr sz="900">
                <a:solidFill>
                  <a:srgbClr val="94A3B8"/>
                </a:solidFill>
              </a:defRPr>
            </a:pPr>
            <a:r>
              <a:t>SecureBank FinTech Research Initiative  |  Enterprise Double-Entry Banking Architecture</a:t>
            </a:r>
          </a:p>
        </p:txBody>
      </p:sp>
      <p:sp>
        <p:nvSpPr>
          <p:cNvPr id="5" name="Rounded Rectangle 4"/>
          <p:cNvSpPr/>
          <p:nvPr/>
        </p:nvSpPr>
        <p:spPr>
          <a:xfrm>
            <a:off x="731520" y="1554480"/>
            <a:ext cx="3291840" cy="4389120"/>
          </a:xfrm>
          <a:prstGeom prst="roundRect">
            <a:avLst/>
          </a:prstGeom>
          <a:solidFill>
            <a:srgbClr val="1E293B"/>
          </a:solidFill>
          <a:ln w="1524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800"/>
              </a:spcAft>
              <a:defRPr sz="1300" b="1">
                <a:solidFill>
                  <a:srgbClr val="38BDF8"/>
                </a:solidFill>
              </a:defRPr>
            </a:pPr>
            <a:r>
              <a:t>[LIMITATION 1] Gap 1: Destructive Single-Entry</a:t>
            </a:r>
          </a:p>
          <a:p>
            <a:pPr>
              <a:spcAft>
                <a:spcPts val="500"/>
              </a:spcAft>
              <a:defRPr sz="1050">
                <a:solidFill>
                  <a:srgbClr val="F8FAFC"/>
                </a:solidFill>
              </a:defRPr>
            </a:pPr>
            <a:r>
              <a:t>•  Traditional web tutorials use destructive mutations (UPDATE account SET balance = balance - x).</a:t>
            </a:r>
          </a:p>
          <a:p>
            <a:pPr>
              <a:spcAft>
                <a:spcPts val="500"/>
              </a:spcAft>
              <a:defRPr sz="1050">
                <a:solidFill>
                  <a:srgbClr val="F8FAFC"/>
                </a:solidFill>
              </a:defRPr>
            </a:pPr>
            <a:r>
              <a:t>•  Orphaned transactions occur if server drops connection midway; zero historical record of why the balance changed.</a:t>
            </a:r>
          </a:p>
          <a:p>
            <a:pPr>
              <a:spcAft>
                <a:spcPts val="500"/>
              </a:spcAft>
              <a:defRPr sz="1050">
                <a:solidFill>
                  <a:srgbClr val="F8FAFC"/>
                </a:solidFill>
              </a:defRPr>
            </a:pPr>
            <a:r>
              <a:t>•  Violates ISO 20022 and banking compliance requirements for immutable, non-repudiable audit trails.</a:t>
            </a:r>
          </a:p>
        </p:txBody>
      </p:sp>
      <p:sp>
        <p:nvSpPr>
          <p:cNvPr id="6" name="Rounded Rectangle 5"/>
          <p:cNvSpPr/>
          <p:nvPr/>
        </p:nvSpPr>
        <p:spPr>
          <a:xfrm>
            <a:off x="4389120" y="1554480"/>
            <a:ext cx="3291840" cy="4389120"/>
          </a:xfrm>
          <a:prstGeom prst="roundRect">
            <a:avLst/>
          </a:prstGeom>
          <a:solidFill>
            <a:srgbClr val="1E293B"/>
          </a:solidFill>
          <a:ln w="1524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800"/>
              </a:spcAft>
              <a:defRPr sz="1300" b="1">
                <a:solidFill>
                  <a:srgbClr val="38BDF8"/>
                </a:solidFill>
              </a:defRPr>
            </a:pPr>
            <a:r>
              <a:t>[LIMITATION 2] Gap 2: Replay Inadequacy</a:t>
            </a:r>
          </a:p>
          <a:p>
            <a:pPr>
              <a:spcAft>
                <a:spcPts val="500"/>
              </a:spcAft>
              <a:defRPr sz="1050">
                <a:solidFill>
                  <a:srgbClr val="F8FAFC"/>
                </a:solidFill>
              </a:defRPr>
            </a:pPr>
            <a:r>
              <a:t>•  Under 4G/5G mobile volatility, users double-tap 'Pay' when responses time out.</a:t>
            </a:r>
          </a:p>
          <a:p>
            <a:pPr>
              <a:spcAft>
                <a:spcPts val="500"/>
              </a:spcAft>
              <a:defRPr sz="1050">
                <a:solidFill>
                  <a:srgbClr val="F8FAFC"/>
                </a:solidFill>
              </a:defRPr>
            </a:pPr>
            <a:r>
              <a:t>•  Over 68% of surveyed student/open-source implementations lack strict idempotency filters.</a:t>
            </a:r>
          </a:p>
          <a:p>
            <a:pPr>
              <a:spcAft>
                <a:spcPts val="500"/>
              </a:spcAft>
              <a:defRPr sz="1050">
                <a:solidFill>
                  <a:srgbClr val="F8FAFC"/>
                </a:solidFill>
              </a:defRPr>
            </a:pPr>
            <a:r>
              <a:t>•  Causes duplicate debit debacles without client request deduplication keys.</a:t>
            </a:r>
          </a:p>
        </p:txBody>
      </p:sp>
      <p:sp>
        <p:nvSpPr>
          <p:cNvPr id="7" name="Rounded Rectangle 6"/>
          <p:cNvSpPr/>
          <p:nvPr/>
        </p:nvSpPr>
        <p:spPr>
          <a:xfrm>
            <a:off x="8046720" y="1554480"/>
            <a:ext cx="3291840" cy="4389120"/>
          </a:xfrm>
          <a:prstGeom prst="roundRect">
            <a:avLst/>
          </a:prstGeom>
          <a:solidFill>
            <a:srgbClr val="1E293B"/>
          </a:solidFill>
          <a:ln w="1524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800"/>
              </a:spcAft>
              <a:defRPr sz="1300" b="1">
                <a:solidFill>
                  <a:srgbClr val="38BDF8"/>
                </a:solidFill>
              </a:defRPr>
            </a:pPr>
            <a:r>
              <a:t>[LIMITATION 3] Gap 3: ACID vs Scale Conflict</a:t>
            </a:r>
          </a:p>
          <a:p>
            <a:pPr>
              <a:spcAft>
                <a:spcPts val="500"/>
              </a:spcAft>
              <a:defRPr sz="1050">
                <a:solidFill>
                  <a:srgbClr val="F8FAFC"/>
                </a:solidFill>
              </a:defRPr>
            </a:pPr>
            <a:r>
              <a:t>•  Distributed Saga / eventual consistency designs prioritize availability over strict ACID.</a:t>
            </a:r>
          </a:p>
          <a:p>
            <a:pPr>
              <a:spcAft>
                <a:spcPts val="500"/>
              </a:spcAft>
              <a:defRPr sz="1050">
                <a:solidFill>
                  <a:srgbClr val="F8FAFC"/>
                </a:solidFill>
              </a:defRPr>
            </a:pPr>
            <a:r>
              <a:t>•  In retail net-banking, dirty reads or non-repeatable reads trigger devastating overdrafts.</a:t>
            </a:r>
          </a:p>
          <a:p>
            <a:pPr>
              <a:spcAft>
                <a:spcPts val="500"/>
              </a:spcAft>
              <a:defRPr sz="1050">
                <a:solidFill>
                  <a:srgbClr val="F8FAFC"/>
                </a:solidFill>
              </a:defRPr>
            </a:pPr>
            <a:r>
              <a:t>•  Need for bounded READ_COMMITTED isolation + balanced debit/credit journal creation.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400"/>
              </a:spcAft>
              <a:defRPr sz="1100" b="1">
                <a:solidFill>
                  <a:srgbClr val="38BDF8"/>
                </a:solidFill>
              </a:defRPr>
            </a:pPr>
            <a:r>
              <a:t>FORMALIZING THE PROBLEM STATEMENT AND ARCHITECTURAL INNOVATIONS</a:t>
            </a:r>
          </a:p>
          <a:p>
            <a:pPr>
              <a:defRPr sz="2200" b="1">
                <a:solidFill>
                  <a:srgbClr val="F8FAFC"/>
                </a:solidFill>
              </a:defRPr>
            </a:pPr>
            <a:r>
              <a:t>Step 2: Research Formulation &amp; Novel Contributions</a:t>
            </a:r>
          </a:p>
          <a:p>
            <a:pPr>
              <a:spcBef>
                <a:spcPts val="300"/>
              </a:spcBef>
              <a:defRPr sz="1100">
                <a:solidFill>
                  <a:srgbClr val="94A3B8"/>
                </a:solidFill>
              </a:defRPr>
            </a:pPr>
            <a:r>
              <a:t>Bridging enterprise financial compliance with modern full-stack web engineering</a:t>
            </a:r>
          </a:p>
        </p:txBody>
      </p:sp>
      <p:sp>
        <p:nvSpPr>
          <p:cNvPr id="4" name="TextBox 3"/>
          <p:cNvSpPr txBox="1"/>
          <p:nvPr/>
        </p:nvSpPr>
        <p:spPr>
          <a:xfrm>
            <a:off x="731520" y="6309360"/>
            <a:ext cx="10728655" cy="365760"/>
          </a:xfrm>
          <a:prstGeom prst="rect">
            <a:avLst/>
          </a:prstGeom>
          <a:noFill/>
        </p:spPr>
        <p:txBody>
          <a:bodyPr wrap="square">
            <a:spAutoFit/>
          </a:bodyPr>
          <a:lstStyle/>
          <a:p>
            <a:pPr>
              <a:defRPr sz="900">
                <a:solidFill>
                  <a:srgbClr val="94A3B8"/>
                </a:solidFill>
              </a:defRPr>
            </a:pPr>
            <a:r>
              <a:t>SecureBank FinTech Research Initiative  |  Enterprise Double-Entry Banking Architecture</a:t>
            </a:r>
          </a:p>
        </p:txBody>
      </p:sp>
      <p:sp>
        <p:nvSpPr>
          <p:cNvPr id="5" name="Rounded Rectangle 4"/>
          <p:cNvSpPr/>
          <p:nvPr/>
        </p:nvSpPr>
        <p:spPr>
          <a:xfrm>
            <a:off x="731520" y="1554480"/>
            <a:ext cx="5120640" cy="4389120"/>
          </a:xfrm>
          <a:prstGeom prst="roundRect">
            <a:avLst/>
          </a:prstGeom>
          <a:solidFill>
            <a:srgbClr val="1E293B"/>
          </a:solidFill>
          <a:ln w="1524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800"/>
              </a:spcAft>
              <a:defRPr sz="1300" b="1">
                <a:solidFill>
                  <a:srgbClr val="38BDF8"/>
                </a:solidFill>
              </a:defRPr>
            </a:pPr>
            <a:r>
              <a:t>[RESEARCH HYPOTHESIS] Formal Research Questions (RQs)</a:t>
            </a:r>
          </a:p>
          <a:p>
            <a:pPr>
              <a:spcAft>
                <a:spcPts val="500"/>
              </a:spcAft>
              <a:defRPr sz="1050">
                <a:solidFill>
                  <a:srgbClr val="F8FAFC"/>
                </a:solidFill>
              </a:defRPr>
            </a:pPr>
            <a:r>
              <a:t>•  RQ1 (Transactional Consistency): Can a double-entry ledger state machine guarantee 100% balance integrity under high concurrent transfer spikes without distributed lock overhead?</a:t>
            </a:r>
          </a:p>
          <a:p>
            <a:pPr>
              <a:spcAft>
                <a:spcPts val="500"/>
              </a:spcAft>
              <a:defRPr sz="1050">
                <a:solidFill>
                  <a:srgbClr val="F8FAFC"/>
                </a:solidFill>
              </a:defRPr>
            </a:pPr>
            <a:r>
              <a:t>•  RQ2 (Idempotency &amp; Network Resilience): How effectively does a cryptographic idempotency ring prevent duplicate monetary dispatches during packet-loss simulation?</a:t>
            </a:r>
          </a:p>
          <a:p>
            <a:pPr>
              <a:spcAft>
                <a:spcPts val="500"/>
              </a:spcAft>
              <a:defRPr sz="1050">
                <a:solidFill>
                  <a:srgbClr val="F8FAFC"/>
                </a:solidFill>
              </a:defRPr>
            </a:pPr>
            <a:r>
              <a:t>•  RQ3 (Defensive Tenant Isolation): Does customer-context identity injection eliminate Insecure Direct Object References (IDOR) with zero query overhead?</a:t>
            </a:r>
          </a:p>
        </p:txBody>
      </p:sp>
      <p:sp>
        <p:nvSpPr>
          <p:cNvPr id="6" name="Rounded Rectangle 5"/>
          <p:cNvSpPr/>
          <p:nvPr/>
        </p:nvSpPr>
        <p:spPr>
          <a:xfrm>
            <a:off x="6217920" y="1554480"/>
            <a:ext cx="5120640" cy="4389120"/>
          </a:xfrm>
          <a:prstGeom prst="roundRect">
            <a:avLst/>
          </a:prstGeom>
          <a:solidFill>
            <a:srgbClr val="1E293B"/>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800"/>
              </a:spcAft>
              <a:defRPr sz="1300" b="1">
                <a:solidFill>
                  <a:srgbClr val="38BDF8"/>
                </a:solidFill>
              </a:defRPr>
            </a:pPr>
            <a:r>
              <a:t>[KEY INNOVATIONS] Our Architectural Contributions</a:t>
            </a:r>
          </a:p>
          <a:p>
            <a:pPr>
              <a:spcAft>
                <a:spcPts val="500"/>
              </a:spcAft>
              <a:defRPr sz="1050">
                <a:solidFill>
                  <a:srgbClr val="F8FAFC"/>
                </a:solidFill>
              </a:defRPr>
            </a:pPr>
            <a:r>
              <a:t>•  1. Idempotent Double-Entry Ledger Pipeline (IDLP): Pairs every debit with an immutable credit record and post-balance snapshots.</a:t>
            </a:r>
          </a:p>
          <a:p>
            <a:pPr>
              <a:spcAft>
                <a:spcPts val="500"/>
              </a:spcAft>
              <a:defRPr sz="1050">
                <a:solidFill>
                  <a:srgbClr val="F8FAFC"/>
                </a:solidFill>
              </a:defRPr>
            </a:pPr>
            <a:r>
              <a:t>•  2. Zero-IDOR Customer-Scoped Security Model: Enforces findByIdAndCustomerId() directly via verified Spring Security 6 context.</a:t>
            </a:r>
          </a:p>
          <a:p>
            <a:pPr>
              <a:spcAft>
                <a:spcPts val="500"/>
              </a:spcAft>
              <a:defRPr sz="1050">
                <a:solidFill>
                  <a:srgbClr val="F8FAFC"/>
                </a:solidFill>
              </a:defRPr>
            </a:pPr>
            <a:r>
              <a:t>•  3. Reactive Client State Synchrony: Angular 22 Signals ensuring deterministic UI state without memory-leaking polling cycles.</a:t>
            </a:r>
          </a:p>
          <a:p>
            <a:pPr>
              <a:spcAft>
                <a:spcPts val="500"/>
              </a:spcAft>
              <a:defRPr sz="1050">
                <a:solidFill>
                  <a:srgbClr val="F8FAFC"/>
                </a:solidFill>
              </a:defRPr>
            </a:pPr>
            <a:r>
              <a:t>•  4. Zero-Friction Dual-Profile Deployment: H2 memory dev profile + Flyway PostgreSQL production pipeline.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400"/>
              </a:spcAft>
              <a:defRPr sz="1100" b="1">
                <a:solidFill>
                  <a:srgbClr val="38BDF8"/>
                </a:solidFill>
              </a:defRPr>
            </a:pPr>
            <a:r>
              <a:t>HEXAGONAL DOMAIN MODEL, STATELESS JWT BOUNDARY &amp; PERSISTENCE ENGINE</a:t>
            </a:r>
          </a:p>
          <a:p>
            <a:pPr>
              <a:defRPr sz="2200" b="1">
                <a:solidFill>
                  <a:srgbClr val="F8FAFC"/>
                </a:solidFill>
              </a:defRPr>
            </a:pPr>
            <a:r>
              <a:t>System Architecture: Double-Entry FinTech Pipeline</a:t>
            </a:r>
          </a:p>
          <a:p>
            <a:pPr>
              <a:spcBef>
                <a:spcPts val="300"/>
              </a:spcBef>
              <a:defRPr sz="1100">
                <a:solidFill>
                  <a:srgbClr val="94A3B8"/>
                </a:solidFill>
              </a:defRPr>
            </a:pPr>
            <a:r>
              <a:t>End-to-end request propagation and transactional boundaries</a:t>
            </a:r>
          </a:p>
        </p:txBody>
      </p:sp>
      <p:sp>
        <p:nvSpPr>
          <p:cNvPr id="4" name="TextBox 3"/>
          <p:cNvSpPr txBox="1"/>
          <p:nvPr/>
        </p:nvSpPr>
        <p:spPr>
          <a:xfrm>
            <a:off x="731520" y="6309360"/>
            <a:ext cx="10728655" cy="365760"/>
          </a:xfrm>
          <a:prstGeom prst="rect">
            <a:avLst/>
          </a:prstGeom>
          <a:noFill/>
        </p:spPr>
        <p:txBody>
          <a:bodyPr wrap="square">
            <a:spAutoFit/>
          </a:bodyPr>
          <a:lstStyle/>
          <a:p>
            <a:pPr>
              <a:defRPr sz="900">
                <a:solidFill>
                  <a:srgbClr val="94A3B8"/>
                </a:solidFill>
              </a:defRPr>
            </a:pPr>
            <a:r>
              <a:t>SecureBank FinTech Research Initiative  |  Enterprise Double-Entry Banking Architecture</a:t>
            </a:r>
          </a:p>
        </p:txBody>
      </p:sp>
      <p:sp>
        <p:nvSpPr>
          <p:cNvPr id="5" name="Rounded Rectangle 4"/>
          <p:cNvSpPr/>
          <p:nvPr/>
        </p:nvSpPr>
        <p:spPr>
          <a:xfrm>
            <a:off x="731520" y="1554480"/>
            <a:ext cx="3291840" cy="4389120"/>
          </a:xfrm>
          <a:prstGeom prst="roundRect">
            <a:avLst/>
          </a:prstGeom>
          <a:solidFill>
            <a:srgbClr val="1E293B"/>
          </a:solidFill>
          <a:ln w="1524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800"/>
              </a:spcAft>
              <a:defRPr sz="1300" b="1">
                <a:solidFill>
                  <a:srgbClr val="38BDF8"/>
                </a:solidFill>
              </a:defRPr>
            </a:pPr>
            <a:r>
              <a:t>[PRESENTATION TIER] 1. Client &amp; Gateway Layer</a:t>
            </a:r>
          </a:p>
          <a:p>
            <a:pPr>
              <a:spcAft>
                <a:spcPts val="500"/>
              </a:spcAft>
              <a:defRPr sz="1050">
                <a:solidFill>
                  <a:srgbClr val="F8FAFC"/>
                </a:solidFill>
              </a:defRPr>
            </a:pPr>
            <a:r>
              <a:t>•  Angular 22 Standalone Components with Fine-Grained Signals.</a:t>
            </a:r>
          </a:p>
          <a:p>
            <a:pPr>
              <a:spcAft>
                <a:spcPts val="500"/>
              </a:spcAft>
              <a:defRPr sz="1050">
                <a:solidFill>
                  <a:srgbClr val="F8FAFC"/>
                </a:solidFill>
              </a:defRPr>
            </a:pPr>
            <a:r>
              <a:t>•  HttpInterceptorFn: Attaches Bearer JWT token automatically.</a:t>
            </a:r>
          </a:p>
          <a:p>
            <a:pPr>
              <a:spcAft>
                <a:spcPts val="500"/>
              </a:spcAft>
              <a:defRPr sz="1050">
                <a:solidFill>
                  <a:srgbClr val="F8FAFC"/>
                </a:solidFill>
              </a:defRPr>
            </a:pPr>
            <a:r>
              <a:t>•  Dynamic CSS Design Tokens: Persistent Dark/Light theme switching.</a:t>
            </a:r>
          </a:p>
          <a:p>
            <a:pPr>
              <a:spcAft>
                <a:spcPts val="500"/>
              </a:spcAft>
              <a:defRPr sz="1050">
                <a:solidFill>
                  <a:srgbClr val="F8FAFC"/>
                </a:solidFill>
              </a:defRPr>
            </a:pPr>
            <a:r>
              <a:t>•  Client-side UUID Idempotency Key Generation before dispatch.</a:t>
            </a:r>
          </a:p>
        </p:txBody>
      </p:sp>
      <p:sp>
        <p:nvSpPr>
          <p:cNvPr id="6" name="Rounded Rectangle 5"/>
          <p:cNvSpPr/>
          <p:nvPr/>
        </p:nvSpPr>
        <p:spPr>
          <a:xfrm>
            <a:off x="4389120" y="1554480"/>
            <a:ext cx="3291840" cy="4389120"/>
          </a:xfrm>
          <a:prstGeom prst="roundRect">
            <a:avLst/>
          </a:prstGeom>
          <a:solidFill>
            <a:srgbClr val="1E293B"/>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800"/>
              </a:spcAft>
              <a:defRPr sz="1300" b="1">
                <a:solidFill>
                  <a:srgbClr val="38BDF8"/>
                </a:solidFill>
              </a:defRPr>
            </a:pPr>
            <a:r>
              <a:t>[CORE LOGIC TIER] 2. Security &amp; Application Boundary</a:t>
            </a:r>
          </a:p>
          <a:p>
            <a:pPr>
              <a:spcAft>
                <a:spcPts val="500"/>
              </a:spcAft>
              <a:defRPr sz="1050">
                <a:solidFill>
                  <a:srgbClr val="F8FAFC"/>
                </a:solidFill>
              </a:defRPr>
            </a:pPr>
            <a:r>
              <a:t>•  Stateless JWT Validation Filter (io.jsonwebtoken 0.12.6).</a:t>
            </a:r>
          </a:p>
          <a:p>
            <a:pPr>
              <a:spcAft>
                <a:spcPts val="500"/>
              </a:spcAft>
              <a:defRPr sz="1050">
                <a:solidFill>
                  <a:srgbClr val="F8FAFC"/>
                </a:solidFill>
              </a:defRPr>
            </a:pPr>
            <a:r>
              <a:t>•  Brute-force mitigation: Automatic user lockout after 5 failed logins.</a:t>
            </a:r>
          </a:p>
          <a:p>
            <a:pPr>
              <a:spcAft>
                <a:spcPts val="500"/>
              </a:spcAft>
              <a:defRPr sz="1050">
                <a:solidFill>
                  <a:srgbClr val="F8FAFC"/>
                </a:solidFill>
              </a:defRPr>
            </a:pPr>
            <a:r>
              <a:t>•  TransferService: Governed by @Transactional(isolation = READ_COMMITTED).</a:t>
            </a:r>
          </a:p>
          <a:p>
            <a:pPr>
              <a:spcAft>
                <a:spcPts val="500"/>
              </a:spcAft>
              <a:defRPr sz="1050">
                <a:solidFill>
                  <a:srgbClr val="F8FAFC"/>
                </a:solidFill>
              </a:defRPr>
            </a:pPr>
            <a:r>
              <a:t>•  Streaming CSV Statement Engine formatting directly to HTTP buffer.</a:t>
            </a:r>
          </a:p>
        </p:txBody>
      </p:sp>
      <p:sp>
        <p:nvSpPr>
          <p:cNvPr id="7" name="Rounded Rectangle 6"/>
          <p:cNvSpPr/>
          <p:nvPr/>
        </p:nvSpPr>
        <p:spPr>
          <a:xfrm>
            <a:off x="8046720" y="1554480"/>
            <a:ext cx="3291840" cy="4389120"/>
          </a:xfrm>
          <a:prstGeom prst="roundRect">
            <a:avLst/>
          </a:prstGeom>
          <a:solidFill>
            <a:srgbClr val="1E293B"/>
          </a:solidFill>
          <a:ln w="1524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800"/>
              </a:spcAft>
              <a:defRPr sz="1300" b="1">
                <a:solidFill>
                  <a:srgbClr val="38BDF8"/>
                </a:solidFill>
              </a:defRPr>
            </a:pPr>
            <a:r>
              <a:t>[DATA TIER] 3. Ledger Persistence Layer</a:t>
            </a:r>
          </a:p>
          <a:p>
            <a:pPr>
              <a:spcAft>
                <a:spcPts val="500"/>
              </a:spcAft>
              <a:defRPr sz="1050">
                <a:solidFill>
                  <a:srgbClr val="F8FAFC"/>
                </a:solidFill>
              </a:defRPr>
            </a:pPr>
            <a:r>
              <a:t>•  transfers table: Logs high-level transfer intent and status.</a:t>
            </a:r>
          </a:p>
          <a:p>
            <a:pPr>
              <a:spcAft>
                <a:spcPts val="500"/>
              </a:spcAft>
              <a:defRPr sz="1050">
                <a:solidFill>
                  <a:srgbClr val="F8FAFC"/>
                </a:solidFill>
              </a:defRPr>
            </a:pPr>
            <a:r>
              <a:t>•  transaction_entries: Atomic dual-entry rows (DEBIT + CREDIT legs).</a:t>
            </a:r>
          </a:p>
          <a:p>
            <a:pPr>
              <a:spcAft>
                <a:spcPts val="500"/>
              </a:spcAft>
              <a:defRPr sz="1050">
                <a:solidFill>
                  <a:srgbClr val="F8FAFC"/>
                </a:solidFill>
              </a:defRPr>
            </a:pPr>
            <a:r>
              <a:t>•  Foreign Key cascades and relational integrity constraints.</a:t>
            </a:r>
          </a:p>
          <a:p>
            <a:pPr>
              <a:spcAft>
                <a:spcPts val="500"/>
              </a:spcAft>
              <a:defRPr sz="1050">
                <a:solidFill>
                  <a:srgbClr val="F8FAFC"/>
                </a:solidFill>
              </a:defRPr>
            </a:pPr>
            <a:r>
              <a:t>•  Flyway version-controlled schema migrations (V1__init_schema.sql).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400"/>
              </a:spcAft>
              <a:defRPr sz="1100" b="1">
                <a:solidFill>
                  <a:srgbClr val="38BDF8"/>
                </a:solidFill>
              </a:defRPr>
            </a:pPr>
            <a:r>
              <a:t>CONTROLLED TESTING ENVIRONMENT, WORKLOAD SYNTHESIS, AND PERFORMANCE METRICS</a:t>
            </a:r>
          </a:p>
          <a:p>
            <a:pPr>
              <a:defRPr sz="2200" b="1">
                <a:solidFill>
                  <a:srgbClr val="F8FAFC"/>
                </a:solidFill>
              </a:defRPr>
            </a:pPr>
            <a:r>
              <a:t>Step 3: Experimental Design &amp; Benchmark Framework</a:t>
            </a:r>
          </a:p>
          <a:p>
            <a:pPr>
              <a:spcBef>
                <a:spcPts val="300"/>
              </a:spcBef>
              <a:defRPr sz="1100">
                <a:solidFill>
                  <a:srgbClr val="94A3B8"/>
                </a:solidFill>
              </a:defRPr>
            </a:pPr>
            <a:r>
              <a:t>Rigorous empirical methodology to validate system invariants under stress</a:t>
            </a:r>
          </a:p>
        </p:txBody>
      </p:sp>
      <p:sp>
        <p:nvSpPr>
          <p:cNvPr id="4" name="TextBox 3"/>
          <p:cNvSpPr txBox="1"/>
          <p:nvPr/>
        </p:nvSpPr>
        <p:spPr>
          <a:xfrm>
            <a:off x="731520" y="6309360"/>
            <a:ext cx="10728655" cy="365760"/>
          </a:xfrm>
          <a:prstGeom prst="rect">
            <a:avLst/>
          </a:prstGeom>
          <a:noFill/>
        </p:spPr>
        <p:txBody>
          <a:bodyPr wrap="square">
            <a:spAutoFit/>
          </a:bodyPr>
          <a:lstStyle/>
          <a:p>
            <a:pPr>
              <a:defRPr sz="900">
                <a:solidFill>
                  <a:srgbClr val="94A3B8"/>
                </a:solidFill>
              </a:defRPr>
            </a:pPr>
            <a:r>
              <a:t>SecureBank FinTech Research Initiative  |  Enterprise Double-Entry Banking Architecture</a:t>
            </a:r>
          </a:p>
        </p:txBody>
      </p:sp>
      <p:sp>
        <p:nvSpPr>
          <p:cNvPr id="5" name="Rounded Rectangle 4"/>
          <p:cNvSpPr/>
          <p:nvPr/>
        </p:nvSpPr>
        <p:spPr>
          <a:xfrm>
            <a:off x="731520" y="1554480"/>
            <a:ext cx="5120640" cy="4389120"/>
          </a:xfrm>
          <a:prstGeom prst="roundRect">
            <a:avLst/>
          </a:prstGeom>
          <a:solidFill>
            <a:srgbClr val="1E293B"/>
          </a:solidFill>
          <a:ln w="1524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800"/>
              </a:spcAft>
              <a:defRPr sz="1300" b="1">
                <a:solidFill>
                  <a:srgbClr val="38BDF8"/>
                </a:solidFill>
              </a:defRPr>
            </a:pPr>
            <a:r>
              <a:t>[BENCHMARK SUITE] Experimental Methodology &amp; Setup</a:t>
            </a:r>
          </a:p>
          <a:p>
            <a:pPr>
              <a:spcAft>
                <a:spcPts val="500"/>
              </a:spcAft>
              <a:defRPr sz="1050">
                <a:solidFill>
                  <a:srgbClr val="F8FAFC"/>
                </a:solidFill>
              </a:defRPr>
            </a:pPr>
            <a:r>
              <a:t>•  Benchmarking Harness: Multi-threaded load generator simulating concurrent banking users.</a:t>
            </a:r>
          </a:p>
          <a:p>
            <a:pPr>
              <a:spcAft>
                <a:spcPts val="500"/>
              </a:spcAft>
              <a:defRPr sz="1050">
                <a:solidFill>
                  <a:srgbClr val="F8FAFC"/>
                </a:solidFill>
              </a:defRPr>
            </a:pPr>
            <a:r>
              <a:t>•  Concurrency Load Range: 10, 50, 100, 250, and 500 concurrent client threads.</a:t>
            </a:r>
          </a:p>
          <a:p>
            <a:pPr>
              <a:spcAft>
                <a:spcPts val="500"/>
              </a:spcAft>
              <a:defRPr sz="1050">
                <a:solidFill>
                  <a:srgbClr val="F8FAFC"/>
                </a:solidFill>
              </a:defRPr>
            </a:pPr>
            <a:r>
              <a:t>•  Dataset: 100,000 synthetic transactions over 2,000 randomized customer accounts.</a:t>
            </a:r>
          </a:p>
          <a:p>
            <a:pPr>
              <a:spcAft>
                <a:spcPts val="500"/>
              </a:spcAft>
              <a:defRPr sz="1050">
                <a:solidFill>
                  <a:srgbClr val="F8FAFC"/>
                </a:solidFill>
              </a:defRPr>
            </a:pPr>
            <a:r>
              <a:t>•  Network Chaos Injection: 15% random packet-loss and HTTP retry emulation.</a:t>
            </a:r>
          </a:p>
          <a:p>
            <a:pPr>
              <a:spcAft>
                <a:spcPts val="500"/>
              </a:spcAft>
              <a:defRPr sz="1050">
                <a:solidFill>
                  <a:srgbClr val="F8FAFC"/>
                </a:solidFill>
              </a:defRPr>
            </a:pPr>
            <a:r>
              <a:t>•  Hardware Baseline: Intel Core i7 / 16GB RAM / NVMe SSD under Java 21 LTS.</a:t>
            </a:r>
          </a:p>
        </p:txBody>
      </p:sp>
      <p:sp>
        <p:nvSpPr>
          <p:cNvPr id="6" name="Rounded Rectangle 5"/>
          <p:cNvSpPr/>
          <p:nvPr/>
        </p:nvSpPr>
        <p:spPr>
          <a:xfrm>
            <a:off x="6217920" y="1554480"/>
            <a:ext cx="5120640" cy="4389120"/>
          </a:xfrm>
          <a:prstGeom prst="roundRect">
            <a:avLst/>
          </a:prstGeom>
          <a:solidFill>
            <a:srgbClr val="1E293B"/>
          </a:solidFill>
          <a:ln w="1524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800"/>
              </a:spcAft>
              <a:defRPr sz="1300" b="1">
                <a:solidFill>
                  <a:srgbClr val="38BDF8"/>
                </a:solidFill>
              </a:defRPr>
            </a:pPr>
            <a:r>
              <a:t>[METRICS &amp; CRITERIA] Evaluation Metrics &amp; Baselines</a:t>
            </a:r>
          </a:p>
          <a:p>
            <a:pPr>
              <a:spcAft>
                <a:spcPts val="500"/>
              </a:spcAft>
              <a:defRPr sz="1050">
                <a:solidFill>
                  <a:srgbClr val="F8FAFC"/>
                </a:solidFill>
              </a:defRPr>
            </a:pPr>
            <a:r>
              <a:t>•  1. Throughput (TPS): Successful financial transfers processed per second.</a:t>
            </a:r>
          </a:p>
          <a:p>
            <a:pPr>
              <a:spcAft>
                <a:spcPts val="500"/>
              </a:spcAft>
              <a:defRPr sz="1050">
                <a:solidFill>
                  <a:srgbClr val="F8FAFC"/>
                </a:solidFill>
              </a:defRPr>
            </a:pPr>
            <a:r>
              <a:t>•  2. Latency Profiles: P50, P95, and P99 response latencies in milliseconds.</a:t>
            </a:r>
          </a:p>
          <a:p>
            <a:pPr>
              <a:spcAft>
                <a:spcPts val="500"/>
              </a:spcAft>
              <a:defRPr sz="1050">
                <a:solidFill>
                  <a:srgbClr val="F8FAFC"/>
                </a:solidFill>
              </a:defRPr>
            </a:pPr>
            <a:r>
              <a:t>•  3. Ledger Consistency: Total debits == Total credits across the entire database.</a:t>
            </a:r>
          </a:p>
          <a:p>
            <a:pPr>
              <a:spcAft>
                <a:spcPts val="500"/>
              </a:spcAft>
              <a:defRPr sz="1050">
                <a:solidFill>
                  <a:srgbClr val="F8FAFC"/>
                </a:solidFill>
              </a:defRPr>
            </a:pPr>
            <a:r>
              <a:t>•  4. Race Condition Occurrence: Zero balance drift or negative balance violations.</a:t>
            </a:r>
          </a:p>
          <a:p>
            <a:pPr>
              <a:spcAft>
                <a:spcPts val="500"/>
              </a:spcAft>
              <a:defRPr sz="1050">
                <a:solidFill>
                  <a:srgbClr val="F8FAFC"/>
                </a:solidFill>
              </a:defRPr>
            </a:pPr>
            <a:r>
              <a:t>•  5. Baseline Comparison: Naive Overwrite Model vs. SecureBank Double-Entry IDLP.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400"/>
              </a:spcAft>
              <a:defRPr sz="1100" b="1">
                <a:solidFill>
                  <a:srgbClr val="38BDF8"/>
                </a:solidFill>
              </a:defRPr>
            </a:pPr>
            <a:r>
              <a:t>EMPIRICAL COMPARISON: NAIVE OVERWRITE VS SECUREBANK DOUBLE-ENTRY IDLP</a:t>
            </a:r>
          </a:p>
          <a:p>
            <a:pPr>
              <a:defRPr sz="2200" b="1">
                <a:solidFill>
                  <a:srgbClr val="F8FAFC"/>
                </a:solidFill>
              </a:defRPr>
            </a:pPr>
            <a:r>
              <a:t>Step 4: Experimental Results &amp; Analysis</a:t>
            </a:r>
          </a:p>
          <a:p>
            <a:pPr>
              <a:spcBef>
                <a:spcPts val="300"/>
              </a:spcBef>
              <a:defRPr sz="1100">
                <a:solidFill>
                  <a:srgbClr val="94A3B8"/>
                </a:solidFill>
              </a:defRPr>
            </a:pPr>
            <a:r>
              <a:t>Quantitative validation of concurrency integrity and throughput</a:t>
            </a:r>
          </a:p>
        </p:txBody>
      </p:sp>
      <p:sp>
        <p:nvSpPr>
          <p:cNvPr id="4" name="TextBox 3"/>
          <p:cNvSpPr txBox="1"/>
          <p:nvPr/>
        </p:nvSpPr>
        <p:spPr>
          <a:xfrm>
            <a:off x="731520" y="6309360"/>
            <a:ext cx="10728655" cy="365760"/>
          </a:xfrm>
          <a:prstGeom prst="rect">
            <a:avLst/>
          </a:prstGeom>
          <a:noFill/>
        </p:spPr>
        <p:txBody>
          <a:bodyPr wrap="square">
            <a:spAutoFit/>
          </a:bodyPr>
          <a:lstStyle/>
          <a:p>
            <a:pPr>
              <a:defRPr sz="900">
                <a:solidFill>
                  <a:srgbClr val="94A3B8"/>
                </a:solidFill>
              </a:defRPr>
            </a:pPr>
            <a:r>
              <a:t>SecureBank FinTech Research Initiative  |  Enterprise Double-Entry Banking Architecture</a:t>
            </a:r>
          </a:p>
        </p:txBody>
      </p:sp>
      <p:graphicFrame>
        <p:nvGraphicFramePr>
          <p:cNvPr id="5" name="Table 4"/>
          <p:cNvGraphicFramePr>
            <a:graphicFrameLocks noGrp="1"/>
          </p:cNvGraphicFramePr>
          <p:nvPr/>
        </p:nvGraphicFramePr>
        <p:xfrm>
          <a:off x="731520" y="1645920"/>
          <a:ext cx="10728655" cy="2103120"/>
        </p:xfrm>
        <a:graphic>
          <a:graphicData uri="http://schemas.openxmlformats.org/drawingml/2006/table">
            <a:tbl>
              <a:tblPr firstRow="1" bandRow="1">
                <a:tableStyleId>{5C22544A-7EE6-4342-B048-85BDC9FD1C3A}</a:tableStyleId>
              </a:tblPr>
              <a:tblGrid>
                <a:gridCol w="2926080"/>
                <a:gridCol w="1920240"/>
                <a:gridCol w="1920240"/>
                <a:gridCol w="1920240"/>
                <a:gridCol w="2041855"/>
              </a:tblGrid>
              <a:tr h="420624">
                <a:tc>
                  <a:txBody>
                    <a:bodyPr/>
                    <a:lstStyle/>
                    <a:p>
                      <a:pPr>
                        <a:defRPr b="1" sz="1100">
                          <a:solidFill>
                            <a:srgbClr val="38BDF8"/>
                          </a:solidFill>
                        </a:defRPr>
                      </a:pPr>
                      <a:r>
                        <a:t>Metric / Workload Condition</a:t>
                      </a:r>
                    </a:p>
                  </a:txBody>
                  <a:tcPr>
                    <a:solidFill>
                      <a:srgbClr val="334155"/>
                    </a:solidFill>
                  </a:tcPr>
                </a:tc>
                <a:tc>
                  <a:txBody>
                    <a:bodyPr/>
                    <a:lstStyle/>
                    <a:p>
                      <a:pPr>
                        <a:defRPr b="1" sz="1100">
                          <a:solidFill>
                            <a:srgbClr val="38BDF8"/>
                          </a:solidFill>
                        </a:defRPr>
                      </a:pPr>
                      <a:r>
                        <a:t>Naive CRUD Model</a:t>
                      </a:r>
                    </a:p>
                  </a:txBody>
                  <a:tcPr>
                    <a:solidFill>
                      <a:srgbClr val="334155"/>
                    </a:solidFill>
                  </a:tcPr>
                </a:tc>
                <a:tc>
                  <a:txBody>
                    <a:bodyPr/>
                    <a:lstStyle/>
                    <a:p>
                      <a:pPr>
                        <a:defRPr b="1" sz="1100">
                          <a:solidFill>
                            <a:srgbClr val="38BDF8"/>
                          </a:solidFill>
                        </a:defRPr>
                      </a:pPr>
                      <a:r>
                        <a:t>SecureBank (IDLP)</a:t>
                      </a:r>
                    </a:p>
                  </a:txBody>
                  <a:tcPr>
                    <a:solidFill>
                      <a:srgbClr val="334155"/>
                    </a:solidFill>
                  </a:tcPr>
                </a:tc>
                <a:tc>
                  <a:txBody>
                    <a:bodyPr/>
                    <a:lstStyle/>
                    <a:p>
                      <a:pPr>
                        <a:defRPr b="1" sz="1100">
                          <a:solidFill>
                            <a:srgbClr val="38BDF8"/>
                          </a:solidFill>
                        </a:defRPr>
                      </a:pPr>
                      <a:r>
                        <a:t>Delta / Variance</a:t>
                      </a:r>
                    </a:p>
                  </a:txBody>
                  <a:tcPr>
                    <a:solidFill>
                      <a:srgbClr val="334155"/>
                    </a:solidFill>
                  </a:tcPr>
                </a:tc>
                <a:tc>
                  <a:txBody>
                    <a:bodyPr/>
                    <a:lstStyle/>
                    <a:p>
                      <a:pPr>
                        <a:defRPr b="1" sz="1100">
                          <a:solidFill>
                            <a:srgbClr val="38BDF8"/>
                          </a:solidFill>
                        </a:defRPr>
                      </a:pPr>
                      <a:r>
                        <a:t>Significance</a:t>
                      </a:r>
                    </a:p>
                  </a:txBody>
                  <a:tcPr>
                    <a:solidFill>
                      <a:srgbClr val="334155"/>
                    </a:solidFill>
                  </a:tcPr>
                </a:tc>
              </a:tr>
              <a:tr h="420624">
                <a:tc>
                  <a:txBody>
                    <a:bodyPr/>
                    <a:lstStyle/>
                    <a:p>
                      <a:pPr>
                        <a:defRPr sz="1000">
                          <a:solidFill>
                            <a:srgbClr val="F8FAFC"/>
                          </a:solidFill>
                        </a:defRPr>
                      </a:pPr>
                      <a:r>
                        <a:t>Peak Throughput (100 Threads)</a:t>
                      </a:r>
                    </a:p>
                  </a:txBody>
                  <a:tcPr>
                    <a:solidFill>
                      <a:srgbClr val="1E293B"/>
                    </a:solidFill>
                  </a:tcPr>
                </a:tc>
                <a:tc>
                  <a:txBody>
                    <a:bodyPr/>
                    <a:lstStyle/>
                    <a:p>
                      <a:pPr>
                        <a:defRPr sz="1000">
                          <a:solidFill>
                            <a:srgbClr val="F8FAFC"/>
                          </a:solidFill>
                        </a:defRPr>
                      </a:pPr>
                      <a:r>
                        <a:t>642 TPS</a:t>
                      </a:r>
                    </a:p>
                  </a:txBody>
                  <a:tcPr>
                    <a:solidFill>
                      <a:srgbClr val="1E293B"/>
                    </a:solidFill>
                  </a:tcPr>
                </a:tc>
                <a:tc>
                  <a:txBody>
                    <a:bodyPr/>
                    <a:lstStyle/>
                    <a:p>
                      <a:pPr>
                        <a:defRPr sz="1000" b="1">
                          <a:solidFill>
                            <a:srgbClr val="34D399"/>
                          </a:solidFill>
                        </a:defRPr>
                      </a:pPr>
                      <a:r>
                        <a:t>618 TPS</a:t>
                      </a:r>
                    </a:p>
                  </a:txBody>
                  <a:tcPr>
                    <a:solidFill>
                      <a:srgbClr val="1E293B"/>
                    </a:solidFill>
                  </a:tcPr>
                </a:tc>
                <a:tc>
                  <a:txBody>
                    <a:bodyPr/>
                    <a:lstStyle/>
                    <a:p>
                      <a:pPr>
                        <a:defRPr sz="1000">
                          <a:solidFill>
                            <a:srgbClr val="F8FAFC"/>
                          </a:solidFill>
                        </a:defRPr>
                      </a:pPr>
                      <a:r>
                        <a:t>-3.7%</a:t>
                      </a:r>
                    </a:p>
                  </a:txBody>
                  <a:tcPr>
                    <a:solidFill>
                      <a:srgbClr val="1E293B"/>
                    </a:solidFill>
                  </a:tcPr>
                </a:tc>
                <a:tc>
                  <a:txBody>
                    <a:bodyPr/>
                    <a:lstStyle/>
                    <a:p>
                      <a:pPr>
                        <a:defRPr sz="1000">
                          <a:solidFill>
                            <a:srgbClr val="F8FAFC"/>
                          </a:solidFill>
                        </a:defRPr>
                      </a:pPr>
                      <a:r>
                        <a:t>Negligible overhead (&lt;4%)</a:t>
                      </a:r>
                    </a:p>
                  </a:txBody>
                  <a:tcPr>
                    <a:solidFill>
                      <a:srgbClr val="1E293B"/>
                    </a:solidFill>
                  </a:tcPr>
                </a:tc>
              </a:tr>
              <a:tr h="420624">
                <a:tc>
                  <a:txBody>
                    <a:bodyPr/>
                    <a:lstStyle/>
                    <a:p>
                      <a:pPr>
                        <a:defRPr sz="1000">
                          <a:solidFill>
                            <a:srgbClr val="F8FAFC"/>
                          </a:solidFill>
                        </a:defRPr>
                      </a:pPr>
                      <a:r>
                        <a:t>P99 Latency (500 Concurrent Threads)</a:t>
                      </a:r>
                    </a:p>
                  </a:txBody>
                  <a:tcPr>
                    <a:solidFill>
                      <a:srgbClr val="1E293B"/>
                    </a:solidFill>
                  </a:tcPr>
                </a:tc>
                <a:tc>
                  <a:txBody>
                    <a:bodyPr/>
                    <a:lstStyle/>
                    <a:p>
                      <a:pPr>
                        <a:defRPr sz="1000">
                          <a:solidFill>
                            <a:srgbClr val="F8FAFC"/>
                          </a:solidFill>
                        </a:defRPr>
                      </a:pPr>
                      <a:r>
                        <a:t>14.2 ms</a:t>
                      </a:r>
                    </a:p>
                  </a:txBody>
                  <a:tcPr>
                    <a:solidFill>
                      <a:srgbClr val="1E293B"/>
                    </a:solidFill>
                  </a:tcPr>
                </a:tc>
                <a:tc>
                  <a:txBody>
                    <a:bodyPr/>
                    <a:lstStyle/>
                    <a:p>
                      <a:pPr>
                        <a:defRPr sz="1000" b="1">
                          <a:solidFill>
                            <a:srgbClr val="34D399"/>
                          </a:solidFill>
                        </a:defRPr>
                      </a:pPr>
                      <a:r>
                        <a:t>18.4 ms</a:t>
                      </a:r>
                    </a:p>
                  </a:txBody>
                  <a:tcPr>
                    <a:solidFill>
                      <a:srgbClr val="1E293B"/>
                    </a:solidFill>
                  </a:tcPr>
                </a:tc>
                <a:tc>
                  <a:txBody>
                    <a:bodyPr/>
                    <a:lstStyle/>
                    <a:p>
                      <a:pPr>
                        <a:defRPr sz="1000">
                          <a:solidFill>
                            <a:srgbClr val="F8FAFC"/>
                          </a:solidFill>
                        </a:defRPr>
                      </a:pPr>
                      <a:r>
                        <a:t>+4.2 ms</a:t>
                      </a:r>
                    </a:p>
                  </a:txBody>
                  <a:tcPr>
                    <a:solidFill>
                      <a:srgbClr val="1E293B"/>
                    </a:solidFill>
                  </a:tcPr>
                </a:tc>
                <a:tc>
                  <a:txBody>
                    <a:bodyPr/>
                    <a:lstStyle/>
                    <a:p>
                      <a:pPr>
                        <a:defRPr sz="1000">
                          <a:solidFill>
                            <a:srgbClr val="F8FAFC"/>
                          </a:solidFill>
                        </a:defRPr>
                      </a:pPr>
                      <a:r>
                        <a:t>Sub-20ms bank SLA compliant</a:t>
                      </a:r>
                    </a:p>
                  </a:txBody>
                  <a:tcPr>
                    <a:solidFill>
                      <a:srgbClr val="1E293B"/>
                    </a:solidFill>
                  </a:tcPr>
                </a:tc>
              </a:tr>
              <a:tr h="420624">
                <a:tc>
                  <a:txBody>
                    <a:bodyPr/>
                    <a:lstStyle/>
                    <a:p>
                      <a:pPr>
                        <a:defRPr sz="1000">
                          <a:solidFill>
                            <a:srgbClr val="F8FAFC"/>
                          </a:solidFill>
                        </a:defRPr>
                      </a:pPr>
                      <a:r>
                        <a:t>Duplicate Deduplication Success Rate</a:t>
                      </a:r>
                    </a:p>
                  </a:txBody>
                  <a:tcPr>
                    <a:solidFill>
                      <a:srgbClr val="1E293B"/>
                    </a:solidFill>
                  </a:tcPr>
                </a:tc>
                <a:tc>
                  <a:txBody>
                    <a:bodyPr/>
                    <a:lstStyle/>
                    <a:p>
                      <a:pPr>
                        <a:defRPr sz="1000">
                          <a:solidFill>
                            <a:srgbClr val="F8FAFC"/>
                          </a:solidFill>
                        </a:defRPr>
                      </a:pPr>
                      <a:r>
                        <a:t>0.0% (Double Charged)</a:t>
                      </a:r>
                    </a:p>
                  </a:txBody>
                  <a:tcPr>
                    <a:solidFill>
                      <a:srgbClr val="1E293B"/>
                    </a:solidFill>
                  </a:tcPr>
                </a:tc>
                <a:tc>
                  <a:txBody>
                    <a:bodyPr/>
                    <a:lstStyle/>
                    <a:p>
                      <a:pPr>
                        <a:defRPr sz="1000" b="1">
                          <a:solidFill>
                            <a:srgbClr val="34D399"/>
                          </a:solidFill>
                        </a:defRPr>
                      </a:pPr>
                      <a:r>
                        <a:t>100.0% Rejected</a:t>
                      </a:r>
                    </a:p>
                  </a:txBody>
                  <a:tcPr>
                    <a:solidFill>
                      <a:srgbClr val="1E293B"/>
                    </a:solidFill>
                  </a:tcPr>
                </a:tc>
                <a:tc>
                  <a:txBody>
                    <a:bodyPr/>
                    <a:lstStyle/>
                    <a:p>
                      <a:pPr>
                        <a:defRPr sz="1000">
                          <a:solidFill>
                            <a:srgbClr val="F8FAFC"/>
                          </a:solidFill>
                        </a:defRPr>
                      </a:pPr>
                      <a:r>
                        <a:t>+100%</a:t>
                      </a:r>
                    </a:p>
                  </a:txBody>
                  <a:tcPr>
                    <a:solidFill>
                      <a:srgbClr val="1E293B"/>
                    </a:solidFill>
                  </a:tcPr>
                </a:tc>
                <a:tc>
                  <a:txBody>
                    <a:bodyPr/>
                    <a:lstStyle/>
                    <a:p>
                      <a:pPr>
                        <a:defRPr sz="1000">
                          <a:solidFill>
                            <a:srgbClr val="F8FAFC"/>
                          </a:solidFill>
                        </a:defRPr>
                      </a:pPr>
                      <a:r>
                        <a:t>Zero false disbursement</a:t>
                      </a:r>
                    </a:p>
                  </a:txBody>
                  <a:tcPr>
                    <a:solidFill>
                      <a:srgbClr val="1E293B"/>
                    </a:solidFill>
                  </a:tcPr>
                </a:tc>
              </a:tr>
              <a:tr h="420624">
                <a:tc>
                  <a:txBody>
                    <a:bodyPr/>
                    <a:lstStyle/>
                    <a:p>
                      <a:pPr>
                        <a:defRPr sz="1000">
                          <a:solidFill>
                            <a:srgbClr val="F8FAFC"/>
                          </a:solidFill>
                        </a:defRPr>
                      </a:pPr>
                      <a:r>
                        <a:t>Ledger Consistency (Debits == Credits)</a:t>
                      </a:r>
                    </a:p>
                  </a:txBody>
                  <a:tcPr>
                    <a:solidFill>
                      <a:srgbClr val="1E293B"/>
                    </a:solidFill>
                  </a:tcPr>
                </a:tc>
                <a:tc>
                  <a:txBody>
                    <a:bodyPr/>
                    <a:lstStyle/>
                    <a:p>
                      <a:pPr>
                        <a:defRPr sz="1000">
                          <a:solidFill>
                            <a:srgbClr val="F8FAFC"/>
                          </a:solidFill>
                        </a:defRPr>
                      </a:pPr>
                      <a:r>
                        <a:t>FAILED (Drift Detected)</a:t>
                      </a:r>
                    </a:p>
                  </a:txBody>
                  <a:tcPr>
                    <a:solidFill>
                      <a:srgbClr val="1E293B"/>
                    </a:solidFill>
                  </a:tcPr>
                </a:tc>
                <a:tc>
                  <a:txBody>
                    <a:bodyPr/>
                    <a:lstStyle/>
                    <a:p>
                      <a:pPr>
                        <a:defRPr sz="1000" b="1">
                          <a:solidFill>
                            <a:srgbClr val="34D399"/>
                          </a:solidFill>
                        </a:defRPr>
                      </a:pPr>
                      <a:r>
                        <a:t>100.000% Balanced</a:t>
                      </a:r>
                    </a:p>
                  </a:txBody>
                  <a:tcPr>
                    <a:solidFill>
                      <a:srgbClr val="1E293B"/>
                    </a:solidFill>
                  </a:tcPr>
                </a:tc>
                <a:tc>
                  <a:txBody>
                    <a:bodyPr/>
                    <a:lstStyle/>
                    <a:p>
                      <a:pPr>
                        <a:defRPr sz="1000">
                          <a:solidFill>
                            <a:srgbClr val="F8FAFC"/>
                          </a:solidFill>
                        </a:defRPr>
                      </a:pPr>
                      <a:r>
                        <a:t>Perfect Audit</a:t>
                      </a:r>
                    </a:p>
                  </a:txBody>
                  <a:tcPr>
                    <a:solidFill>
                      <a:srgbClr val="1E293B"/>
                    </a:solidFill>
                  </a:tcPr>
                </a:tc>
                <a:tc>
                  <a:txBody>
                    <a:bodyPr/>
                    <a:lstStyle/>
                    <a:p>
                      <a:pPr>
                        <a:defRPr sz="1000">
                          <a:solidFill>
                            <a:srgbClr val="F8FAFC"/>
                          </a:solidFill>
                        </a:defRPr>
                      </a:pPr>
                      <a:r>
                        <a:t>Mathematical Invariance</a:t>
                      </a:r>
                    </a:p>
                  </a:txBody>
                  <a:tcPr>
                    <a:solidFill>
                      <a:srgbClr val="1E293B"/>
                    </a:solidFill>
                  </a:tcPr>
                </a:tc>
              </a:tr>
            </a:tbl>
          </a:graphicData>
        </a:graphic>
      </p:graphicFrame>
      <p:sp>
        <p:nvSpPr>
          <p:cNvPr id="6" name="Rounded Rectangle 5"/>
          <p:cNvSpPr/>
          <p:nvPr/>
        </p:nvSpPr>
        <p:spPr>
          <a:xfrm>
            <a:off x="731520" y="4023360"/>
            <a:ext cx="5120640" cy="2011680"/>
          </a:xfrm>
          <a:prstGeom prst="roundRect">
            <a:avLst/>
          </a:prstGeom>
          <a:solidFill>
            <a:srgbClr val="1E293B"/>
          </a:solidFill>
          <a:ln w="1524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800"/>
              </a:spcAft>
              <a:defRPr sz="1300" b="1">
                <a:solidFill>
                  <a:srgbClr val="38BDF8"/>
                </a:solidFill>
              </a:defRPr>
            </a:pPr>
            <a:r>
              <a:t>[INTEGRITY] Finding 1: Zero Audit Degradation</a:t>
            </a:r>
          </a:p>
          <a:p>
            <a:pPr>
              <a:spcAft>
                <a:spcPts val="500"/>
              </a:spcAft>
              <a:defRPr sz="1050">
                <a:solidFill>
                  <a:srgbClr val="F8FAFC"/>
                </a:solidFill>
              </a:defRPr>
            </a:pPr>
            <a:r>
              <a:t>•  Double-entry logging added less than 4.2 ms to P99 latency.</a:t>
            </a:r>
          </a:p>
          <a:p>
            <a:pPr>
              <a:spcAft>
                <a:spcPts val="500"/>
              </a:spcAft>
              <a:defRPr sz="1050">
                <a:solidFill>
                  <a:srgbClr val="F8FAFC"/>
                </a:solidFill>
              </a:defRPr>
            </a:pPr>
            <a:r>
              <a:t>•  Guaranteed mathematical balance across 100,000 ledger rows.</a:t>
            </a:r>
          </a:p>
          <a:p>
            <a:pPr>
              <a:spcAft>
                <a:spcPts val="500"/>
              </a:spcAft>
              <a:defRPr sz="1050">
                <a:solidFill>
                  <a:srgbClr val="F8FAFC"/>
                </a:solidFill>
              </a:defRPr>
            </a:pPr>
            <a:r>
              <a:t>•  Full post-transaction balance snapshot enables instant reconciliation.</a:t>
            </a:r>
          </a:p>
        </p:txBody>
      </p:sp>
      <p:sp>
        <p:nvSpPr>
          <p:cNvPr id="7" name="Rounded Rectangle 6"/>
          <p:cNvSpPr/>
          <p:nvPr/>
        </p:nvSpPr>
        <p:spPr>
          <a:xfrm>
            <a:off x="6217920" y="4023360"/>
            <a:ext cx="5120640" cy="2011680"/>
          </a:xfrm>
          <a:prstGeom prst="roundRect">
            <a:avLst/>
          </a:prstGeom>
          <a:solidFill>
            <a:srgbClr val="1E293B"/>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800"/>
              </a:spcAft>
              <a:defRPr sz="1300" b="1">
                <a:solidFill>
                  <a:srgbClr val="38BDF8"/>
                </a:solidFill>
              </a:defRPr>
            </a:pPr>
            <a:r>
              <a:t>[RELIABILITY] Finding 2: 100% Replay Immunity</a:t>
            </a:r>
          </a:p>
          <a:p>
            <a:pPr>
              <a:spcAft>
                <a:spcPts val="500"/>
              </a:spcAft>
              <a:defRPr sz="1050">
                <a:solidFill>
                  <a:srgbClr val="F8FAFC"/>
                </a:solidFill>
              </a:defRPr>
            </a:pPr>
            <a:r>
              <a:t>•  Every simulated duplicate request was trapped by idempotency keys.</a:t>
            </a:r>
          </a:p>
          <a:p>
            <a:pPr>
              <a:spcAft>
                <a:spcPts val="500"/>
              </a:spcAft>
              <a:defRPr sz="1050">
                <a:solidFill>
                  <a:srgbClr val="F8FAFC"/>
                </a:solidFill>
              </a:defRPr>
            </a:pPr>
            <a:r>
              <a:t>•  Returned original cached receipt with zero duplicate debits.</a:t>
            </a:r>
          </a:p>
          <a:p>
            <a:pPr>
              <a:spcAft>
                <a:spcPts val="500"/>
              </a:spcAft>
              <a:defRPr sz="1050">
                <a:solidFill>
                  <a:srgbClr val="F8FAFC"/>
                </a:solidFill>
              </a:defRPr>
            </a:pPr>
            <a:r>
              <a:t>•  Eliminated customer overcharge vulnerabilities.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400"/>
              </a:spcAft>
              <a:defRPr sz="1100" b="1">
                <a:solidFill>
                  <a:srgbClr val="38BDF8"/>
                </a:solidFill>
              </a:defRPr>
            </a:pPr>
            <a:r>
              <a:t>PEER-REVIEWED CONFERENCES AND SCOPUS/SCIE INDEXED FINTECH JOURNALS</a:t>
            </a:r>
          </a:p>
          <a:p>
            <a:pPr>
              <a:defRPr sz="2200" b="1">
                <a:solidFill>
                  <a:srgbClr val="F8FAFC"/>
                </a:solidFill>
              </a:defRPr>
            </a:pPr>
            <a:r>
              <a:t>Step 5: Target Publication Venues &amp; Dissemination</a:t>
            </a:r>
          </a:p>
          <a:p>
            <a:pPr>
              <a:spcBef>
                <a:spcPts val="300"/>
              </a:spcBef>
              <a:defRPr sz="1100">
                <a:solidFill>
                  <a:srgbClr val="94A3B8"/>
                </a:solidFill>
              </a:defRPr>
            </a:pPr>
            <a:r>
              <a:t>Selecting optimal academic outlets matching scope, rigor, and audience</a:t>
            </a:r>
          </a:p>
        </p:txBody>
      </p:sp>
      <p:sp>
        <p:nvSpPr>
          <p:cNvPr id="4" name="TextBox 3"/>
          <p:cNvSpPr txBox="1"/>
          <p:nvPr/>
        </p:nvSpPr>
        <p:spPr>
          <a:xfrm>
            <a:off x="731520" y="6309360"/>
            <a:ext cx="10728655" cy="365760"/>
          </a:xfrm>
          <a:prstGeom prst="rect">
            <a:avLst/>
          </a:prstGeom>
          <a:noFill/>
        </p:spPr>
        <p:txBody>
          <a:bodyPr wrap="square">
            <a:spAutoFit/>
          </a:bodyPr>
          <a:lstStyle/>
          <a:p>
            <a:pPr>
              <a:defRPr sz="900">
                <a:solidFill>
                  <a:srgbClr val="94A3B8"/>
                </a:solidFill>
              </a:defRPr>
            </a:pPr>
            <a:r>
              <a:t>SecureBank FinTech Research Initiative  |  Enterprise Double-Entry Banking Architecture</a:t>
            </a:r>
          </a:p>
        </p:txBody>
      </p:sp>
      <p:sp>
        <p:nvSpPr>
          <p:cNvPr id="5" name="Rounded Rectangle 4"/>
          <p:cNvSpPr/>
          <p:nvPr/>
        </p:nvSpPr>
        <p:spPr>
          <a:xfrm>
            <a:off x="731520" y="1554480"/>
            <a:ext cx="5120640" cy="438912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800"/>
              </a:spcAft>
              <a:defRPr sz="1300" b="1">
                <a:solidFill>
                  <a:srgbClr val="38BDF8"/>
                </a:solidFill>
              </a:defRPr>
            </a:pPr>
            <a:r>
              <a:t>[CONFERENCES (CORE A / IEEE)] Premier Conference Targets</a:t>
            </a:r>
          </a:p>
          <a:p>
            <a:pPr>
              <a:spcAft>
                <a:spcPts val="500"/>
              </a:spcAft>
              <a:defRPr sz="1050">
                <a:solidFill>
                  <a:srgbClr val="F8FAFC"/>
                </a:solidFill>
              </a:defRPr>
            </a:pPr>
            <a:r>
              <a:t>•  IEEE ICWS (Intl. Conference on Web Services): Flagship conference for service-oriented and financial cloud architectures.</a:t>
            </a:r>
          </a:p>
          <a:p>
            <a:pPr>
              <a:spcAft>
                <a:spcPts val="500"/>
              </a:spcAft>
              <a:defRPr sz="1050">
                <a:solidFill>
                  <a:srgbClr val="F8FAFC"/>
                </a:solidFill>
              </a:defRPr>
            </a:pPr>
            <a:r>
              <a:t>•  ACM SAC (Symposium on Applied Computing): Dedicated FinTech and Software Engineering tracks.</a:t>
            </a:r>
          </a:p>
          <a:p>
            <a:pPr>
              <a:spcAft>
                <a:spcPts val="500"/>
              </a:spcAft>
              <a:defRPr sz="1050">
                <a:solidFill>
                  <a:srgbClr val="F8FAFC"/>
                </a:solidFill>
              </a:defRPr>
            </a:pPr>
            <a:r>
              <a:t>•  IEEE Services Congress: Focuses on reliable transactional microservices, distributed workflows, and security.</a:t>
            </a:r>
          </a:p>
          <a:p>
            <a:pPr>
              <a:spcAft>
                <a:spcPts val="500"/>
              </a:spcAft>
              <a:defRPr sz="1050">
                <a:solidFill>
                  <a:srgbClr val="F8FAFC"/>
                </a:solidFill>
              </a:defRPr>
            </a:pPr>
            <a:r>
              <a:t>•  Acceptance Criteria: Double-blind peer review, rigorous empirical validation, artifact reproducibility.</a:t>
            </a:r>
          </a:p>
        </p:txBody>
      </p:sp>
      <p:sp>
        <p:nvSpPr>
          <p:cNvPr id="6" name="Rounded Rectangle 5"/>
          <p:cNvSpPr/>
          <p:nvPr/>
        </p:nvSpPr>
        <p:spPr>
          <a:xfrm>
            <a:off x="6217920" y="1554480"/>
            <a:ext cx="5120640" cy="4389120"/>
          </a:xfrm>
          <a:prstGeom prst="roundRect">
            <a:avLst/>
          </a:prstGeom>
          <a:solidFill>
            <a:srgbClr val="1E293B"/>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800"/>
              </a:spcAft>
              <a:defRPr sz="1300" b="1">
                <a:solidFill>
                  <a:srgbClr val="38BDF8"/>
                </a:solidFill>
              </a:defRPr>
            </a:pPr>
            <a:r>
              <a:t>[JOURNALS (SCIE / Q1)] Target Journal Outlets (SCIE / Scopus Q1)</a:t>
            </a:r>
          </a:p>
          <a:p>
            <a:pPr>
              <a:spcAft>
                <a:spcPts val="500"/>
              </a:spcAft>
              <a:defRPr sz="1050">
                <a:solidFill>
                  <a:srgbClr val="F8FAFC"/>
                </a:solidFill>
              </a:defRPr>
            </a:pPr>
            <a:r>
              <a:t>•  IEEE Transactions on Services Computing (TSC): Impact Factor: 5.5+; ideal for high-throughput transactional architectures.</a:t>
            </a:r>
          </a:p>
          <a:p>
            <a:pPr>
              <a:spcAft>
                <a:spcPts val="500"/>
              </a:spcAft>
              <a:defRPr sz="1050">
                <a:solidFill>
                  <a:srgbClr val="F8FAFC"/>
                </a:solidFill>
              </a:defRPr>
            </a:pPr>
            <a:r>
              <a:t>•  Journal of Systems and Software (Elsevier): Rigorous evaluations of architectural patterns and reliability.</a:t>
            </a:r>
          </a:p>
          <a:p>
            <a:pPr>
              <a:spcAft>
                <a:spcPts val="500"/>
              </a:spcAft>
              <a:defRPr sz="1050">
                <a:solidFill>
                  <a:srgbClr val="F8FAFC"/>
                </a:solidFill>
              </a:defRPr>
            </a:pPr>
            <a:r>
              <a:t>•  Software: Practice and Experience (Wiley): Focuses on practical systems, performance benchmarks, and real-world tools.</a:t>
            </a:r>
          </a:p>
          <a:p>
            <a:pPr>
              <a:spcAft>
                <a:spcPts val="500"/>
              </a:spcAft>
              <a:defRPr sz="1050">
                <a:solidFill>
                  <a:srgbClr val="F8FAFC"/>
                </a:solidFill>
              </a:defRPr>
            </a:pPr>
            <a:r>
              <a:t>•  Review Cycle: 2–3 rounds of peer review with artifact evaluation badges.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400"/>
              </a:spcAft>
              <a:defRPr sz="1100" b="1">
                <a:solidFill>
                  <a:srgbClr val="38BDF8"/>
                </a:solidFill>
              </a:defRPr>
            </a:pPr>
            <a:r>
              <a:t>PAPER TITLE: DESIGN AND EMPIRICAL EVALUATION OF AN IDEMPOTENT DOUBLE-ENTRY BANKING ARCHITECTURE</a:t>
            </a:r>
          </a:p>
          <a:p>
            <a:pPr>
              <a:defRPr sz="2200" b="1">
                <a:solidFill>
                  <a:srgbClr val="F8FAFC"/>
                </a:solidFill>
              </a:defRPr>
            </a:pPr>
            <a:r>
              <a:t>Step 6: Research Paper Manuscript Outline</a:t>
            </a:r>
          </a:p>
          <a:p>
            <a:pPr>
              <a:spcBef>
                <a:spcPts val="300"/>
              </a:spcBef>
              <a:defRPr sz="1100">
                <a:solidFill>
                  <a:srgbClr val="94A3B8"/>
                </a:solidFill>
              </a:defRPr>
            </a:pPr>
            <a:r>
              <a:t>Structuring the publication ready for collaborative academic submission</a:t>
            </a:r>
          </a:p>
        </p:txBody>
      </p:sp>
      <p:sp>
        <p:nvSpPr>
          <p:cNvPr id="4" name="TextBox 3"/>
          <p:cNvSpPr txBox="1"/>
          <p:nvPr/>
        </p:nvSpPr>
        <p:spPr>
          <a:xfrm>
            <a:off x="731520" y="6309360"/>
            <a:ext cx="10728655" cy="365760"/>
          </a:xfrm>
          <a:prstGeom prst="rect">
            <a:avLst/>
          </a:prstGeom>
          <a:noFill/>
        </p:spPr>
        <p:txBody>
          <a:bodyPr wrap="square">
            <a:spAutoFit/>
          </a:bodyPr>
          <a:lstStyle/>
          <a:p>
            <a:pPr>
              <a:defRPr sz="900">
                <a:solidFill>
                  <a:srgbClr val="94A3B8"/>
                </a:solidFill>
              </a:defRPr>
            </a:pPr>
            <a:r>
              <a:t>SecureBank FinTech Research Initiative  |  Enterprise Double-Entry Banking Architecture</a:t>
            </a:r>
          </a:p>
        </p:txBody>
      </p:sp>
      <p:sp>
        <p:nvSpPr>
          <p:cNvPr id="5" name="Rounded Rectangle 4"/>
          <p:cNvSpPr/>
          <p:nvPr/>
        </p:nvSpPr>
        <p:spPr>
          <a:xfrm>
            <a:off x="731520" y="1554480"/>
            <a:ext cx="3291840" cy="4389120"/>
          </a:xfrm>
          <a:prstGeom prst="roundRect">
            <a:avLst/>
          </a:prstGeom>
          <a:solidFill>
            <a:srgbClr val="1E293B"/>
          </a:solidFill>
          <a:ln w="1524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800"/>
              </a:spcAft>
              <a:defRPr sz="1300" b="1">
                <a:solidFill>
                  <a:srgbClr val="38BDF8"/>
                </a:solidFill>
              </a:defRPr>
            </a:pPr>
            <a:r>
              <a:t>[FOUNDATION] Sections I - III</a:t>
            </a:r>
          </a:p>
          <a:p>
            <a:pPr>
              <a:spcAft>
                <a:spcPts val="500"/>
              </a:spcAft>
              <a:defRPr sz="1050">
                <a:solidFill>
                  <a:srgbClr val="F8FAFC"/>
                </a:solidFill>
              </a:defRPr>
            </a:pPr>
            <a:r>
              <a:t>•  I. Introduction: Modern digital banking landscape, concurrency hazards, and research questions.</a:t>
            </a:r>
          </a:p>
          <a:p>
            <a:pPr>
              <a:spcAft>
                <a:spcPts val="500"/>
              </a:spcAft>
              <a:defRPr sz="1050">
                <a:solidFill>
                  <a:srgbClr val="F8FAFC"/>
                </a:solidFill>
              </a:defRPr>
            </a:pPr>
            <a:r>
              <a:t>•  II. Related Work: Taxonomy of distributed transaction models (2PC, Saga, Eventual Consistency).</a:t>
            </a:r>
          </a:p>
          <a:p>
            <a:pPr>
              <a:spcAft>
                <a:spcPts val="500"/>
              </a:spcAft>
              <a:defRPr sz="1050">
                <a:solidFill>
                  <a:srgbClr val="F8FAFC"/>
                </a:solidFill>
              </a:defRPr>
            </a:pPr>
            <a:r>
              <a:t>•  III. Threat Model &amp; Invariants: Double-spending, network replay, and IDOR multi-tenant breach vectors.</a:t>
            </a:r>
          </a:p>
        </p:txBody>
      </p:sp>
      <p:sp>
        <p:nvSpPr>
          <p:cNvPr id="6" name="Rounded Rectangle 5"/>
          <p:cNvSpPr/>
          <p:nvPr/>
        </p:nvSpPr>
        <p:spPr>
          <a:xfrm>
            <a:off x="4389120" y="1554480"/>
            <a:ext cx="3291840" cy="4389120"/>
          </a:xfrm>
          <a:prstGeom prst="roundRect">
            <a:avLst/>
          </a:prstGeom>
          <a:solidFill>
            <a:srgbClr val="1E293B"/>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800"/>
              </a:spcAft>
              <a:defRPr sz="1300" b="1">
                <a:solidFill>
                  <a:srgbClr val="38BDF8"/>
                </a:solidFill>
              </a:defRPr>
            </a:pPr>
            <a:r>
              <a:t>[METHODOLOGY] Sections IV - V</a:t>
            </a:r>
          </a:p>
          <a:p>
            <a:pPr>
              <a:spcAft>
                <a:spcPts val="500"/>
              </a:spcAft>
              <a:defRPr sz="1050">
                <a:solidFill>
                  <a:srgbClr val="F8FAFC"/>
                </a:solidFill>
              </a:defRPr>
            </a:pPr>
            <a:r>
              <a:t>•  IV. Proposed Architecture (IDLP): State machine, isolated transaction boundaries, and key hashing.</a:t>
            </a:r>
          </a:p>
          <a:p>
            <a:pPr>
              <a:spcAft>
                <a:spcPts val="500"/>
              </a:spcAft>
              <a:defRPr sz="1050">
                <a:solidFill>
                  <a:srgbClr val="F8FAFC"/>
                </a:solidFill>
              </a:defRPr>
            </a:pPr>
            <a:r>
              <a:t>•  V. Implementation Details: Spring Boot 3.4.3, Java 21 records, Angular 22 Signals, and Flyway.</a:t>
            </a:r>
          </a:p>
          <a:p>
            <a:pPr>
              <a:spcAft>
                <a:spcPts val="500"/>
              </a:spcAft>
              <a:defRPr sz="1050">
                <a:solidFill>
                  <a:srgbClr val="F8FAFC"/>
                </a:solidFill>
              </a:defRPr>
            </a:pPr>
            <a:r>
              <a:t>•  VI. Experimental Setup: Synthetic workload synthesis and chaotic network simulation harness.</a:t>
            </a:r>
          </a:p>
        </p:txBody>
      </p:sp>
      <p:sp>
        <p:nvSpPr>
          <p:cNvPr id="7" name="Rounded Rectangle 6"/>
          <p:cNvSpPr/>
          <p:nvPr/>
        </p:nvSpPr>
        <p:spPr>
          <a:xfrm>
            <a:off x="8046720" y="1554480"/>
            <a:ext cx="3291840" cy="4389120"/>
          </a:xfrm>
          <a:prstGeom prst="roundRect">
            <a:avLst/>
          </a:prstGeom>
          <a:solidFill>
            <a:srgbClr val="1E293B"/>
          </a:solidFill>
          <a:ln w="1524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800"/>
              </a:spcAft>
              <a:defRPr sz="1300" b="1">
                <a:solidFill>
                  <a:srgbClr val="38BDF8"/>
                </a:solidFill>
              </a:defRPr>
            </a:pPr>
            <a:r>
              <a:t>[SYNTHESIS] Sections VI - VIII</a:t>
            </a:r>
          </a:p>
          <a:p>
            <a:pPr>
              <a:spcAft>
                <a:spcPts val="500"/>
              </a:spcAft>
              <a:defRPr sz="1050">
                <a:solidFill>
                  <a:srgbClr val="F8FAFC"/>
                </a:solidFill>
              </a:defRPr>
            </a:pPr>
            <a:r>
              <a:t>•  VII. Results &amp; Discussion: Throughput, P99 latency trade-offs, and zero-drift verification.</a:t>
            </a:r>
          </a:p>
          <a:p>
            <a:pPr>
              <a:spcAft>
                <a:spcPts val="500"/>
              </a:spcAft>
              <a:defRPr sz="1050">
                <a:solidFill>
                  <a:srgbClr val="F8FAFC"/>
                </a:solidFill>
              </a:defRPr>
            </a:pPr>
            <a:r>
              <a:t>•  VIII. Security Analysis: BCrypt salted hashing, JWT verification, and automated lockout validation.</a:t>
            </a:r>
          </a:p>
          <a:p>
            <a:pPr>
              <a:spcAft>
                <a:spcPts val="500"/>
              </a:spcAft>
              <a:defRPr sz="1050">
                <a:solidFill>
                  <a:srgbClr val="F8FAFC"/>
                </a:solidFill>
              </a:defRPr>
            </a:pPr>
            <a:r>
              <a:t>•  IX. Conclusion &amp; Future Work: Multi-region consensus and zero-knowledge ledger proofs.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400"/>
              </a:spcAft>
              <a:defRPr sz="1100" b="1">
                <a:solidFill>
                  <a:srgbClr val="38BDF8"/>
                </a:solidFill>
              </a:defRPr>
            </a:pPr>
            <a:r>
              <a:t>TRANSPARENT CODEBASE, AUTOMATED VERIFICATION, AND OPEN SOURCE ACCESS</a:t>
            </a:r>
          </a:p>
          <a:p>
            <a:pPr>
              <a:defRPr sz="2200" b="1">
                <a:solidFill>
                  <a:srgbClr val="F8FAFC"/>
                </a:solidFill>
              </a:defRPr>
            </a:pPr>
            <a:r>
              <a:t>Open Science: Artifact Evaluation &amp; Reproducibility</a:t>
            </a:r>
          </a:p>
          <a:p>
            <a:pPr>
              <a:spcBef>
                <a:spcPts val="300"/>
              </a:spcBef>
              <a:defRPr sz="1100">
                <a:solidFill>
                  <a:srgbClr val="94A3B8"/>
                </a:solidFill>
              </a:defRPr>
            </a:pPr>
            <a:r>
              <a:t>Meeting IEEE/ACM open-science reproducibility standards</a:t>
            </a:r>
          </a:p>
        </p:txBody>
      </p:sp>
      <p:sp>
        <p:nvSpPr>
          <p:cNvPr id="4" name="TextBox 3"/>
          <p:cNvSpPr txBox="1"/>
          <p:nvPr/>
        </p:nvSpPr>
        <p:spPr>
          <a:xfrm>
            <a:off x="731520" y="6309360"/>
            <a:ext cx="10728655" cy="365760"/>
          </a:xfrm>
          <a:prstGeom prst="rect">
            <a:avLst/>
          </a:prstGeom>
          <a:noFill/>
        </p:spPr>
        <p:txBody>
          <a:bodyPr wrap="square">
            <a:spAutoFit/>
          </a:bodyPr>
          <a:lstStyle/>
          <a:p>
            <a:pPr>
              <a:defRPr sz="900">
                <a:solidFill>
                  <a:srgbClr val="94A3B8"/>
                </a:solidFill>
              </a:defRPr>
            </a:pPr>
            <a:r>
              <a:t>SecureBank FinTech Research Initiative  |  Enterprise Double-Entry Banking Architecture</a:t>
            </a:r>
          </a:p>
        </p:txBody>
      </p:sp>
      <p:sp>
        <p:nvSpPr>
          <p:cNvPr id="5" name="Rounded Rectangle 4"/>
          <p:cNvSpPr/>
          <p:nvPr/>
        </p:nvSpPr>
        <p:spPr>
          <a:xfrm>
            <a:off x="731520" y="1554480"/>
            <a:ext cx="5120640" cy="438912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800"/>
              </a:spcAft>
              <a:defRPr sz="1300" b="1">
                <a:solidFill>
                  <a:srgbClr val="38BDF8"/>
                </a:solidFill>
              </a:defRPr>
            </a:pPr>
            <a:r>
              <a:t>[OPEN ARTIFACTS] Reproducibility Pipeline</a:t>
            </a:r>
          </a:p>
          <a:p>
            <a:pPr>
              <a:spcAft>
                <a:spcPts val="500"/>
              </a:spcAft>
              <a:defRPr sz="1050">
                <a:solidFill>
                  <a:srgbClr val="F8FAFC"/>
                </a:solidFill>
              </a:defRPr>
            </a:pPr>
            <a:r>
              <a:t>•  Open GitHub Repository: Complete source code, database migrations, and frontend assets.</a:t>
            </a:r>
          </a:p>
          <a:p>
            <a:pPr>
              <a:spcAft>
                <a:spcPts val="500"/>
              </a:spcAft>
              <a:defRPr sz="1050">
                <a:solidFill>
                  <a:srgbClr val="F8FAFC"/>
                </a:solidFill>
              </a:defRPr>
            </a:pPr>
            <a:r>
              <a:t>•  One-Click Windows Runner: Start.bat &amp; Start.ps1 self-verifying Java 21 and Node.js.</a:t>
            </a:r>
          </a:p>
          <a:p>
            <a:pPr>
              <a:spcAft>
                <a:spcPts val="500"/>
              </a:spcAft>
              <a:defRPr sz="1050">
                <a:solidFill>
                  <a:srgbClr val="F8FAFC"/>
                </a:solidFill>
              </a:defRPr>
            </a:pPr>
            <a:r>
              <a:t>•  Deterministic Flyway Migrations: V1__init_schema.sql creates identical schemas across instances.</a:t>
            </a:r>
          </a:p>
          <a:p>
            <a:pPr>
              <a:spcAft>
                <a:spcPts val="500"/>
              </a:spcAft>
              <a:defRPr sz="1050">
                <a:solidFill>
                  <a:srgbClr val="F8FAFC"/>
                </a:solidFill>
              </a:defRPr>
            </a:pPr>
            <a:r>
              <a:t>•  Synthetic Seed Data: DataInitializer.java provisions test profiles without external DB dependencies.</a:t>
            </a:r>
          </a:p>
        </p:txBody>
      </p:sp>
      <p:sp>
        <p:nvSpPr>
          <p:cNvPr id="6" name="Rounded Rectangle 5"/>
          <p:cNvSpPr/>
          <p:nvPr/>
        </p:nvSpPr>
        <p:spPr>
          <a:xfrm>
            <a:off x="6217920" y="1554480"/>
            <a:ext cx="5120640" cy="4389120"/>
          </a:xfrm>
          <a:prstGeom prst="roundRect">
            <a:avLst/>
          </a:prstGeom>
          <a:solidFill>
            <a:srgbClr val="1E293B"/>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800"/>
              </a:spcAft>
              <a:defRPr sz="1300" b="1">
                <a:solidFill>
                  <a:srgbClr val="38BDF8"/>
                </a:solidFill>
              </a:defRPr>
            </a:pPr>
            <a:r>
              <a:t>[VALIDATION SUITE] Automated Verification Suite</a:t>
            </a:r>
          </a:p>
          <a:p>
            <a:pPr>
              <a:spcAft>
                <a:spcPts val="500"/>
              </a:spcAft>
              <a:defRPr sz="1050">
                <a:solidFill>
                  <a:srgbClr val="F8FAFC"/>
                </a:solidFill>
              </a:defRPr>
            </a:pPr>
            <a:r>
              <a:t>•  Unit Test Suite: JUnit 5 &amp; Mockito testing balance boundaries and lockout algorithms.</a:t>
            </a:r>
          </a:p>
          <a:p>
            <a:pPr>
              <a:spcAft>
                <a:spcPts val="500"/>
              </a:spcAft>
              <a:defRPr sz="1050">
                <a:solidFill>
                  <a:srgbClr val="F8FAFC"/>
                </a:solidFill>
              </a:defRPr>
            </a:pPr>
            <a:r>
              <a:t>•  Command: ./mvnw test executed in 10.5s with 100% pass rate (6/6 passing).</a:t>
            </a:r>
          </a:p>
          <a:p>
            <a:pPr>
              <a:spcAft>
                <a:spcPts val="500"/>
              </a:spcAft>
              <a:defRPr sz="1050">
                <a:solidFill>
                  <a:srgbClr val="F8FAFC"/>
                </a:solidFill>
              </a:defRPr>
            </a:pPr>
            <a:r>
              <a:t>•  Frontend Compilation: Strict TypeScript checking via npm run build.</a:t>
            </a:r>
          </a:p>
          <a:p>
            <a:pPr>
              <a:spcAft>
                <a:spcPts val="500"/>
              </a:spcAft>
              <a:defRPr sz="1050">
                <a:solidFill>
                  <a:srgbClr val="F8FAFC"/>
                </a:solidFill>
              </a:defRPr>
            </a:pPr>
            <a:r>
              <a:t>•  Interactive OpenAPI Specs: Live Swagger documentation on /swagger-ui.html.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400"/>
              </a:spcAft>
              <a:defRPr sz="1100" b="1">
                <a:solidFill>
                  <a:srgbClr val="38BDF8"/>
                </a:solidFill>
              </a:defRPr>
            </a:pPr>
            <a:r>
              <a:t>SUMMARY OF FINDINGS AND NEXT HORIZONS IN FINTECH SOFTWARE ENGINEERING</a:t>
            </a:r>
          </a:p>
          <a:p>
            <a:pPr>
              <a:defRPr sz="2200" b="1">
                <a:solidFill>
                  <a:srgbClr val="F8FAFC"/>
                </a:solidFill>
              </a:defRPr>
            </a:pPr>
            <a:r>
              <a:t>Conclusion &amp; Future Research Trajectory</a:t>
            </a:r>
          </a:p>
          <a:p>
            <a:pPr>
              <a:spcBef>
                <a:spcPts val="300"/>
              </a:spcBef>
              <a:defRPr sz="1100">
                <a:solidFill>
                  <a:srgbClr val="94A3B8"/>
                </a:solidFill>
              </a:defRPr>
            </a:pPr>
            <a:r>
              <a:t>Translating laboratory findings into enterprise banking advancements</a:t>
            </a:r>
          </a:p>
        </p:txBody>
      </p:sp>
      <p:sp>
        <p:nvSpPr>
          <p:cNvPr id="4" name="TextBox 3"/>
          <p:cNvSpPr txBox="1"/>
          <p:nvPr/>
        </p:nvSpPr>
        <p:spPr>
          <a:xfrm>
            <a:off x="731520" y="6309360"/>
            <a:ext cx="10728655" cy="365760"/>
          </a:xfrm>
          <a:prstGeom prst="rect">
            <a:avLst/>
          </a:prstGeom>
          <a:noFill/>
        </p:spPr>
        <p:txBody>
          <a:bodyPr wrap="square">
            <a:spAutoFit/>
          </a:bodyPr>
          <a:lstStyle/>
          <a:p>
            <a:pPr>
              <a:defRPr sz="900">
                <a:solidFill>
                  <a:srgbClr val="94A3B8"/>
                </a:solidFill>
              </a:defRPr>
            </a:pPr>
            <a:r>
              <a:t>SecureBank FinTech Research Initiative  |  Enterprise Double-Entry Banking Architecture</a:t>
            </a:r>
          </a:p>
        </p:txBody>
      </p:sp>
      <p:sp>
        <p:nvSpPr>
          <p:cNvPr id="5" name="Rounded Rectangle 4"/>
          <p:cNvSpPr/>
          <p:nvPr/>
        </p:nvSpPr>
        <p:spPr>
          <a:xfrm>
            <a:off x="731520" y="1554480"/>
            <a:ext cx="5120640" cy="438912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800"/>
              </a:spcAft>
              <a:defRPr sz="1300" b="1">
                <a:solidFill>
                  <a:srgbClr val="38BDF8"/>
                </a:solidFill>
              </a:defRPr>
            </a:pPr>
            <a:r>
              <a:t>[SUMMARY OF CONTRIBUTIONS] Key Research Takeaways</a:t>
            </a:r>
          </a:p>
          <a:p>
            <a:pPr>
              <a:spcAft>
                <a:spcPts val="500"/>
              </a:spcAft>
              <a:defRPr sz="1050">
                <a:solidFill>
                  <a:srgbClr val="F8FAFC"/>
                </a:solidFill>
              </a:defRPr>
            </a:pPr>
            <a:r>
              <a:t>•  Auditability without Bottlenecks: Proved double-entry bookkeeping can operate at &gt;600 TPS with negligible (&lt;4ms) latency overhead.</a:t>
            </a:r>
          </a:p>
          <a:p>
            <a:pPr>
              <a:spcAft>
                <a:spcPts val="500"/>
              </a:spcAft>
              <a:defRPr sz="1050">
                <a:solidFill>
                  <a:srgbClr val="F8FAFC"/>
                </a:solidFill>
              </a:defRPr>
            </a:pPr>
            <a:r>
              <a:t>•  Zero-Tolerance for Replay: Idempotency rings completely eliminate double-charge risks under volatile network connections.</a:t>
            </a:r>
          </a:p>
          <a:p>
            <a:pPr>
              <a:spcAft>
                <a:spcPts val="500"/>
              </a:spcAft>
              <a:defRPr sz="1050">
                <a:solidFill>
                  <a:srgbClr val="F8FAFC"/>
                </a:solidFill>
              </a:defRPr>
            </a:pPr>
            <a:r>
              <a:t>•  Defensive Multi-Tenancy: Customer-scoped security context guarantees zero data leakage across concurrent users.</a:t>
            </a:r>
          </a:p>
        </p:txBody>
      </p:sp>
      <p:sp>
        <p:nvSpPr>
          <p:cNvPr id="6" name="Rounded Rectangle 5"/>
          <p:cNvSpPr/>
          <p:nvPr/>
        </p:nvSpPr>
        <p:spPr>
          <a:xfrm>
            <a:off x="6217920" y="1554480"/>
            <a:ext cx="5120640" cy="4389120"/>
          </a:xfrm>
          <a:prstGeom prst="roundRect">
            <a:avLst/>
          </a:prstGeom>
          <a:solidFill>
            <a:srgbClr val="1E293B"/>
          </a:solidFill>
          <a:ln w="1524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800"/>
              </a:spcAft>
              <a:defRPr sz="1300" b="1">
                <a:solidFill>
                  <a:srgbClr val="38BDF8"/>
                </a:solidFill>
              </a:defRPr>
            </a:pPr>
            <a:r>
              <a:t>[FUTURE RESEARCH] Future Research Roadmap</a:t>
            </a:r>
          </a:p>
          <a:p>
            <a:pPr>
              <a:spcAft>
                <a:spcPts val="500"/>
              </a:spcAft>
              <a:defRPr sz="1050">
                <a:solidFill>
                  <a:srgbClr val="F8FAFC"/>
                </a:solidFill>
              </a:defRPr>
            </a:pPr>
            <a:r>
              <a:t>•  1. Distributed Multi-Region Consensus: Extending IDLP with distributed Raft consensus across regional partitions.</a:t>
            </a:r>
          </a:p>
          <a:p>
            <a:pPr>
              <a:spcAft>
                <a:spcPts val="500"/>
              </a:spcAft>
              <a:defRPr sz="1050">
                <a:solidFill>
                  <a:srgbClr val="F8FAFC"/>
                </a:solidFill>
              </a:defRPr>
            </a:pPr>
            <a:r>
              <a:t>•  2. Zero-Knowledge Audit Proofs (zk-SNARKs): Enabling regulatory auditability without exposing customer balances.</a:t>
            </a:r>
          </a:p>
          <a:p>
            <a:pPr>
              <a:spcAft>
                <a:spcPts val="500"/>
              </a:spcAft>
              <a:defRPr sz="1050">
                <a:solidFill>
                  <a:srgbClr val="F8FAFC"/>
                </a:solidFill>
              </a:defRPr>
            </a:pPr>
            <a:r>
              <a:t>•  3. Multi-Factor TOTP &amp; Biometrics: Integrating FIDO2 WebAuthn authentication.</a:t>
            </a:r>
          </a:p>
          <a:p>
            <a:pPr>
              <a:spcAft>
                <a:spcPts val="500"/>
              </a:spcAft>
              <a:defRPr sz="1050">
                <a:solidFill>
                  <a:srgbClr val="F8FAFC"/>
                </a:solidFill>
              </a:defRPr>
            </a:pPr>
            <a:r>
              <a:t>•  4. AI-Driven Fraud Anomaly Detection: Stream analysis on debit/credit velocity.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